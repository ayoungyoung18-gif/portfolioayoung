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920483"/>
            <a:ext cx="71437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spc="4" kern="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OSULLOC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000125" y="1574136"/>
            <a:ext cx="7143750" cy="1234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950" spc="-1" kern="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오설록 꿀잠프로젝트</a:t>
            </a:r>
            <a:r>
              <a:rPr lang="en-US" sz="3950" spc="-1" kern="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3950" spc="-1" kern="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하루의 따뜻한 마무리</a:t>
            </a:r>
            <a:endParaRPr lang="en-US" sz="3950" dirty="0"/>
          </a:p>
        </p:txBody>
      </p:sp>
      <p:sp>
        <p:nvSpPr>
          <p:cNvPr id="5" name="Text 2"/>
          <p:cNvSpPr/>
          <p:nvPr/>
        </p:nvSpPr>
        <p:spPr>
          <a:xfrm>
            <a:off x="1000125" y="3022867"/>
            <a:ext cx="71437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혼자만의 고요한 밤, 함께 나누는 다정한 밤, 두 가지의 완벽한 쉼을 통한 숙면 제안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0125" y="4051567"/>
            <a:ext cx="7143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E84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인스타그램 리뷰 이벤트 페이지 기획안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2090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94792"/>
            <a:ext cx="8001000" cy="14288"/>
          </a:xfrm>
          <a:prstGeom prst="rect">
            <a:avLst/>
          </a:prstGeom>
          <a:solidFill>
            <a:srgbClr val="E0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STARTING POINT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646509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기획의 출발점: 숙면 전 차 한잔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944635" y="1909167"/>
            <a:ext cx="5254703" cy="22663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2516135" y="2266355"/>
            <a:ext cx="4111703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"오늘도 쉽게 잠들지 못하는 당신에게"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516135" y="2789634"/>
            <a:ext cx="4111703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105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끊임없는 알람과 업무, 자기 전까지 손에서 놓지 못하는 스마트폰.</a:t>
            </a:r>
            <a:r>
              <a:rPr lang="en-US" sz="105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105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현대인의 밤은 </a:t>
            </a:r>
            <a:r>
              <a:rPr lang="en-US" sz="10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깊은 휴식</a:t>
            </a:r>
            <a:r>
              <a:rPr lang="en-US" sz="105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아닌 </a:t>
            </a:r>
            <a:r>
              <a:rPr lang="en-US" sz="10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얕은 피로</a:t>
            </a:r>
            <a:r>
              <a:rPr lang="en-US" sz="105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채워져 있습니다.</a:t>
            </a:r>
            <a:r>
              <a:rPr lang="en-US" sz="105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105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우리는 이 차가운 일상의 끝에 따뜻한 온기를 더하려 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2090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94792"/>
            <a:ext cx="8001000" cy="14288"/>
          </a:xfrm>
          <a:prstGeom prst="rect">
            <a:avLst/>
          </a:prstGeom>
          <a:solidFill>
            <a:srgbClr val="E0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TWO SOLUTIONS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646509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가지 솔루션: 스트레스 발산과 숙면 준비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571500" y="1551980"/>
            <a:ext cx="3857625" cy="2353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551980"/>
            <a:ext cx="3857625" cy="42863"/>
          </a:xfrm>
          <a:prstGeom prst="rect">
            <a:avLst/>
          </a:prstGeom>
          <a:solidFill>
            <a:srgbClr val="6B5A8E"/>
          </a:solidFill>
          <a:ln/>
        </p:spPr>
      </p:sp>
      <p:sp>
        <p:nvSpPr>
          <p:cNvPr id="9" name="Text 6"/>
          <p:cNvSpPr/>
          <p:nvPr/>
        </p:nvSpPr>
        <p:spPr>
          <a:xfrm>
            <a:off x="857250" y="1837730"/>
            <a:ext cx="3286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 01. 발산 (소통)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7250" y="2080617"/>
            <a:ext cx="328612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수다로 털어내는 일상의 무게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57250" y="2528888"/>
            <a:ext cx="3286125" cy="619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하루 쌓인 스트레스를 소중한 사람들과의 대화로 발산하세요. 억눌린 감정을 밖으로 꺼내는 것만으로도 마음의 짐이 가벼워집니다.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57250" y="3326811"/>
            <a:ext cx="670006" cy="250031"/>
          </a:xfrm>
          <a:prstGeom prst="rect">
            <a:avLst/>
          </a:prstGeom>
          <a:solidFill>
            <a:srgbClr val="F3F0FF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3326811"/>
            <a:ext cx="670006" cy="250031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#감정발산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1598693" y="3326811"/>
            <a:ext cx="870031" cy="250031"/>
          </a:xfrm>
          <a:prstGeom prst="rect">
            <a:avLst/>
          </a:prstGeom>
          <a:solidFill>
            <a:srgbClr val="F3F0FF"/>
          </a:solidFill>
          <a:ln/>
        </p:spPr>
      </p:sp>
      <p:sp>
        <p:nvSpPr>
          <p:cNvPr id="15" name="Text 12"/>
          <p:cNvSpPr/>
          <p:nvPr/>
        </p:nvSpPr>
        <p:spPr>
          <a:xfrm>
            <a:off x="1598693" y="3326811"/>
            <a:ext cx="870031" cy="250031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#스트레스해소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2540161" y="3326811"/>
            <a:ext cx="770018" cy="250031"/>
          </a:xfrm>
          <a:prstGeom prst="rect">
            <a:avLst/>
          </a:prstGeom>
          <a:solidFill>
            <a:srgbClr val="F3F0FF"/>
          </a:solidFill>
          <a:ln/>
        </p:spPr>
      </p:sp>
      <p:sp>
        <p:nvSpPr>
          <p:cNvPr id="17" name="Text 14"/>
          <p:cNvSpPr/>
          <p:nvPr/>
        </p:nvSpPr>
        <p:spPr>
          <a:xfrm>
            <a:off x="2540161" y="3326811"/>
            <a:ext cx="770018" cy="250031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#공감과대화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4714875" y="1551980"/>
            <a:ext cx="3857625" cy="2353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714875" y="1551980"/>
            <a:ext cx="3857625" cy="42863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0" name="Text 17"/>
          <p:cNvSpPr/>
          <p:nvPr/>
        </p:nvSpPr>
        <p:spPr>
          <a:xfrm>
            <a:off x="5000625" y="1837730"/>
            <a:ext cx="3286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 02. 완화 (휴식)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00625" y="2080617"/>
            <a:ext cx="328612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 한 잔으로 맞이하는 내면의 평온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000625" y="2528888"/>
            <a:ext cx="3286125" cy="619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충분히 발산했다면 이제는 정적인 시간입니다. 따뜻한 차의 온기와 향기에 집중하며 몸의 긴장을 풀고 깊은 잠을 준비합니다.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00625" y="3326811"/>
            <a:ext cx="670006" cy="250031"/>
          </a:xfrm>
          <a:prstGeom prst="rect">
            <a:avLst/>
          </a:prstGeom>
          <a:solidFill>
            <a:srgbClr val="F3F0FF"/>
          </a:solidFill>
          <a:ln/>
        </p:spPr>
      </p:sp>
      <p:sp>
        <p:nvSpPr>
          <p:cNvPr id="24" name="Text 21"/>
          <p:cNvSpPr/>
          <p:nvPr/>
        </p:nvSpPr>
        <p:spPr>
          <a:xfrm>
            <a:off x="5000625" y="3326811"/>
            <a:ext cx="670006" cy="250031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#긴장완화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5742068" y="3326811"/>
            <a:ext cx="670006" cy="250031"/>
          </a:xfrm>
          <a:prstGeom prst="rect">
            <a:avLst/>
          </a:prstGeom>
          <a:solidFill>
            <a:srgbClr val="F3F0FF"/>
          </a:solidFill>
          <a:ln/>
        </p:spPr>
      </p:sp>
      <p:sp>
        <p:nvSpPr>
          <p:cNvPr id="26" name="Text 23"/>
          <p:cNvSpPr/>
          <p:nvPr/>
        </p:nvSpPr>
        <p:spPr>
          <a:xfrm>
            <a:off x="5742068" y="3326811"/>
            <a:ext cx="670006" cy="250031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#심신안정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6483511" y="3326811"/>
            <a:ext cx="670006" cy="250031"/>
          </a:xfrm>
          <a:prstGeom prst="rect">
            <a:avLst/>
          </a:prstGeom>
          <a:solidFill>
            <a:srgbClr val="F3F0FF"/>
          </a:solidFill>
          <a:ln/>
        </p:spPr>
      </p:sp>
      <p:sp>
        <p:nvSpPr>
          <p:cNvPr id="28" name="Text 25"/>
          <p:cNvSpPr/>
          <p:nvPr/>
        </p:nvSpPr>
        <p:spPr>
          <a:xfrm>
            <a:off x="6483511" y="3326811"/>
            <a:ext cx="670006" cy="250031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#숙면루틴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2090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94792"/>
            <a:ext cx="8001000" cy="14288"/>
          </a:xfrm>
          <a:prstGeom prst="rect">
            <a:avLst/>
          </a:prstGeom>
          <a:solidFill>
            <a:srgbClr val="E0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VALUE OF CONNECTION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646509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소통의 가치: 함께 나누는 따뜻한 수다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571500" y="1551980"/>
            <a:ext cx="3857625" cy="1805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551980"/>
            <a:ext cx="3857625" cy="42863"/>
          </a:xfrm>
          <a:prstGeom prst="rect">
            <a:avLst/>
          </a:prstGeom>
          <a:solidFill>
            <a:srgbClr val="6B5A8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919883"/>
            <a:ext cx="28575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5875" y="1837730"/>
            <a:ext cx="177485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스트레스 해소의 창구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57250" y="2409230"/>
            <a:ext cx="3286125" cy="619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소중한 사람들과 나누는 일상의 이야기는 쌓여있던 스트레스를 발산하는 가장 건강한 방법입니다. 차 한 잔의 온기는 대화의 분위기를 더욱 부드럽게 만들어줍니다.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14875" y="1551980"/>
            <a:ext cx="3857625" cy="1805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4714875" y="1551980"/>
            <a:ext cx="3857625" cy="42863"/>
          </a:xfrm>
          <a:prstGeom prst="rect">
            <a:avLst/>
          </a:prstGeom>
          <a:solidFill>
            <a:srgbClr val="6B5A8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1919883"/>
            <a:ext cx="17145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14950" y="1837730"/>
            <a:ext cx="177485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긍정적 에너지의 발산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000625" y="2409230"/>
            <a:ext cx="3286125" cy="619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웃고 떠드는 시간은 지친 심신에 새로운 활력을 불어넣습니다. 억눌렸던 감정을 털어내고 나면, 비로소 평온한 잠을 위한 마음의 준비가 끝납니다.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1519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37642"/>
            <a:ext cx="8001000" cy="14288"/>
          </a:xfrm>
          <a:prstGeom prst="rect">
            <a:avLst/>
          </a:prstGeom>
          <a:solidFill>
            <a:srgbClr val="E0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ME-TIME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646509"/>
            <a:ext cx="80010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1" kern="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혼자만의 시간: 온전한 긴장 완화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873127" y="1494830"/>
            <a:ext cx="33977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"누구에게도 방해받지 않는 15분,</a:t>
            </a:r>
            <a:r>
              <a:rPr lang="en-US" sz="1600" b="1" i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1600" b="1" i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 한 잔과 함께하는 내면의 여행"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669" y="2752130"/>
            <a:ext cx="285750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5813" y="3180755"/>
            <a:ext cx="209549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호흡의 정돈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85813" y="3480792"/>
            <a:ext cx="209549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은은하게 피어오르는 차의 향기를 맡으며 깊게 호흡하면, 경직되었던 몸의 근육이 서서히 이완됩니다.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238" y="2752130"/>
            <a:ext cx="321469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24241" y="3180755"/>
            <a:ext cx="209549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생각의 비움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3524241" y="3480792"/>
            <a:ext cx="209549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하루의 복잡했던 생각들을 잠시 내려놓고, 따뜻한 찻잔의 온기에만 집중하며 마음을 비웁니다.</a:t>
            </a:r>
            <a:endParaRPr lang="en-US" sz="8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553" y="2752130"/>
            <a:ext cx="285750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62669" y="3180755"/>
            <a:ext cx="209551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수면 스위치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262669" y="3480792"/>
            <a:ext cx="209551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몸과 마음이 충분히 이완된 상태에서 맞이하는 잠은 더욱 깊고 평온한 휴식을 선사합니다.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1500" y="0"/>
            <a:ext cx="8001000" cy="11519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571500" y="1137642"/>
            <a:ext cx="8001000" cy="14288"/>
          </a:xfrm>
          <a:prstGeom prst="rect">
            <a:avLst/>
          </a:prstGeom>
          <a:solidFill>
            <a:srgbClr val="E0D7FF"/>
          </a:solidFill>
          <a:ln/>
        </p:spPr>
      </p:sp>
      <p:sp>
        <p:nvSpPr>
          <p:cNvPr id="6" name="Text 2"/>
          <p:cNvSpPr/>
          <p:nvPr/>
        </p:nvSpPr>
        <p:spPr>
          <a:xfrm>
            <a:off x="571500" y="428625"/>
            <a:ext cx="8001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BRAND CONCEPT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71500" y="646509"/>
            <a:ext cx="80010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1" kern="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컨셉: 우리들의 꿀잠 시크릿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71500" y="1494830"/>
            <a:ext cx="8001000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u="sng" dirty="0">
                <a:solidFill>
                  <a:srgbClr val="2C5F2D"/>
                </a:solidFill>
                <a:uFill>
                  <a:solidFill>
                    <a:srgbClr val="2C5F2D"/>
                  </a:solidFill>
                </a:u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"함께 즐겁게, 혼자 평온하게 </a:t>
            </a:r>
            <a:r>
              <a:rPr lang="en-US" sz="2450" b="1" u="sng" dirty="0">
                <a:solidFill>
                  <a:srgbClr val="2C5F2D"/>
                </a:solidFill>
                <a:uFill>
                  <a:solidFill>
                    <a:srgbClr val="2C5F2D"/>
                  </a:solidFill>
                </a:u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오설록</a:t>
            </a:r>
            <a:r>
              <a:rPr lang="en-US" sz="2450" b="1" u="sng" dirty="0">
                <a:solidFill>
                  <a:srgbClr val="2C5F2D"/>
                </a:solidFill>
                <a:uFill>
                  <a:solidFill>
                    <a:srgbClr val="2C5F2D"/>
                  </a:solidFill>
                </a:u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endParaRPr lang="en-US" sz="2450" dirty="0"/>
          </a:p>
        </p:txBody>
      </p:sp>
      <p:sp>
        <p:nvSpPr>
          <p:cNvPr id="9" name="Shape 5"/>
          <p:cNvSpPr/>
          <p:nvPr/>
        </p:nvSpPr>
        <p:spPr>
          <a:xfrm>
            <a:off x="720235" y="2243138"/>
            <a:ext cx="2143125" cy="1230511"/>
          </a:xfrm>
          <a:prstGeom prst="rect">
            <a:avLst/>
          </a:prstGeom>
          <a:solidFill>
            <a:srgbClr val="FFFFFF"/>
          </a:solidFill>
          <a:ln w="18288">
            <a:solidFill>
              <a:srgbClr val="E0D7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3110" y="2543175"/>
            <a:ext cx="1857375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나누는 수다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63110" y="2862858"/>
            <a:ext cx="18573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스트레스 발산과</a:t>
            </a:r>
            <a:r>
              <a:rPr lang="en-US" sz="85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5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긍정 에너지 충전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077673" y="2694087"/>
            <a:ext cx="16687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3458859" y="2243138"/>
            <a:ext cx="2143125" cy="1230511"/>
          </a:xfrm>
          <a:prstGeom prst="rect">
            <a:avLst/>
          </a:prstGeom>
          <a:solidFill>
            <a:srgbClr val="FFFFFF"/>
          </a:solidFill>
          <a:ln w="18288">
            <a:solidFill>
              <a:srgbClr val="E0D7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01734" y="2528888"/>
            <a:ext cx="1857375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누리는 휴식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01734" y="2848570"/>
            <a:ext cx="18573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깊은 긴장 완화와</a:t>
            </a:r>
            <a:r>
              <a:rPr lang="en-US" sz="85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5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내면의 평화</a:t>
            </a:r>
            <a:endParaRPr lang="en-US" sz="8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296" y="2692301"/>
            <a:ext cx="250031" cy="28575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280640" y="2251174"/>
            <a:ext cx="2143125" cy="1185863"/>
          </a:xfrm>
          <a:prstGeom prst="rect">
            <a:avLst/>
          </a:prstGeom>
          <a:solidFill>
            <a:srgbClr val="2D244E"/>
          </a:solidFill>
          <a:ln/>
        </p:spPr>
      </p:sp>
      <p:sp>
        <p:nvSpPr>
          <p:cNvPr id="18" name="Text 13"/>
          <p:cNvSpPr/>
          <p:nvPr/>
        </p:nvSpPr>
        <p:spPr>
          <a:xfrm>
            <a:off x="6423515" y="2536924"/>
            <a:ext cx="185737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완벽한 꿀잠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23515" y="2840534"/>
            <a:ext cx="18573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오설록 허브티가 완성하는</a:t>
            </a:r>
            <a:r>
              <a:rPr lang="en-US" sz="8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하루의 마무리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1519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37642"/>
            <a:ext cx="8001000" cy="14288"/>
          </a:xfrm>
          <a:prstGeom prst="rect">
            <a:avLst/>
          </a:prstGeom>
          <a:solidFill>
            <a:srgbClr val="E0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TARGET EXPERIENCE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646509"/>
            <a:ext cx="80010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1" kern="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 경험: 일상을 나누고, 휴식을 누리다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71500" y="1494830"/>
            <a:ext cx="3857625" cy="25995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857250" y="1780580"/>
            <a:ext cx="942194" cy="207169"/>
          </a:xfrm>
          <a:prstGeom prst="rect">
            <a:avLst/>
          </a:prstGeom>
          <a:solidFill>
            <a:srgbClr val="F3F0FF"/>
          </a:solidFill>
          <a:ln/>
        </p:spPr>
      </p:sp>
      <p:sp>
        <p:nvSpPr>
          <p:cNvPr id="9" name="Text 6"/>
          <p:cNvSpPr/>
          <p:nvPr/>
        </p:nvSpPr>
        <p:spPr>
          <a:xfrm>
            <a:off x="857250" y="1780580"/>
            <a:ext cx="942194" cy="207169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함께하는 에너지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57250" y="2094905"/>
            <a:ext cx="328612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SCENARIO 01. 대화로 푸는 스트레스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7250" y="2505670"/>
            <a:ext cx="3286125" cy="218582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퇴근 후 친구/가족과 모여 따뜻한 차 한 잔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7250" y="2831409"/>
            <a:ext cx="3286125" cy="218582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하루 힘들었던 일들을 수다로 털어내기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57250" y="3157147"/>
            <a:ext cx="3286125" cy="218582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웃음과 공감 속에서 쌓인 긴장을 즐겁게 해소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57250" y="3482885"/>
            <a:ext cx="3286125" cy="218582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가벼워진 마음으로 맞이하는 기분 좋은 잠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14875" y="1494830"/>
            <a:ext cx="3857625" cy="25995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857250" y="2505670"/>
            <a:ext cx="42500" cy="218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b="1" dirty="0">
                <a:solidFill>
                  <a:srgbClr val="FFD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57250" y="2831409"/>
            <a:ext cx="42500" cy="218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b="1" dirty="0">
                <a:solidFill>
                  <a:srgbClr val="FFD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57250" y="3157147"/>
            <a:ext cx="42500" cy="218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b="1" dirty="0">
                <a:solidFill>
                  <a:srgbClr val="FFD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57250" y="3482885"/>
            <a:ext cx="42500" cy="218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b="1" dirty="0">
                <a:solidFill>
                  <a:srgbClr val="FFD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000625" y="1780580"/>
            <a:ext cx="842181" cy="207169"/>
          </a:xfrm>
          <a:prstGeom prst="rect">
            <a:avLst/>
          </a:prstGeom>
          <a:solidFill>
            <a:srgbClr val="F3F0FF"/>
          </a:solidFill>
          <a:ln/>
        </p:spPr>
      </p:sp>
      <p:sp>
        <p:nvSpPr>
          <p:cNvPr id="21" name="Text 18"/>
          <p:cNvSpPr/>
          <p:nvPr/>
        </p:nvSpPr>
        <p:spPr>
          <a:xfrm>
            <a:off x="5000625" y="1780580"/>
            <a:ext cx="842181" cy="207169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혼자만의 평온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000625" y="2094905"/>
            <a:ext cx="328612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SCENARIO 02. 온전한 긴장 완화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000625" y="2505670"/>
            <a:ext cx="3286125" cy="218582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소음을 뒤로하고 오직 나만을 위한 시간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00625" y="2831409"/>
            <a:ext cx="3286125" cy="218582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차의 온기와 향기에 집중하며 깊은 명상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000625" y="3157147"/>
            <a:ext cx="3286125" cy="218582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몸의 모든 근육을 이완시키는 차분한 루틴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00625" y="3482885"/>
            <a:ext cx="3286125" cy="218582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내면의 평화를 통해 도달하는 깊은 숙면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00625" y="2505670"/>
            <a:ext cx="42500" cy="218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b="1" dirty="0">
                <a:solidFill>
                  <a:srgbClr val="FFD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000625" y="2831409"/>
            <a:ext cx="42500" cy="218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b="1" dirty="0">
                <a:solidFill>
                  <a:srgbClr val="FFD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000625" y="3157147"/>
            <a:ext cx="42500" cy="218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b="1" dirty="0">
                <a:solidFill>
                  <a:srgbClr val="FFD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00625" y="3482885"/>
            <a:ext cx="42500" cy="218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b="1" dirty="0">
                <a:solidFill>
                  <a:srgbClr val="FFD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1519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37642"/>
            <a:ext cx="8001000" cy="14288"/>
          </a:xfrm>
          <a:prstGeom prst="rect">
            <a:avLst/>
          </a:prstGeom>
          <a:solidFill>
            <a:srgbClr val="E0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DESIGN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646509"/>
            <a:ext cx="80010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1" kern="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시스템: 브랜드 아이덴티티 서체와 컬러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71500" y="1494830"/>
            <a:ext cx="1785938" cy="857250"/>
          </a:xfrm>
          <a:prstGeom prst="rect">
            <a:avLst/>
          </a:prstGeom>
          <a:solidFill>
            <a:srgbClr val="F3F0FF"/>
          </a:solidFill>
          <a:ln w="9144">
            <a:solidFill>
              <a:srgbClr val="E0D7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4375" y="1978819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Lavender Background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714375" y="2094905"/>
            <a:ext cx="15001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B5A8E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#F3F0FF (차분한 휴식)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2500313" y="1494830"/>
            <a:ext cx="1785938" cy="857250"/>
          </a:xfrm>
          <a:prstGeom prst="rect">
            <a:avLst/>
          </a:prstGeom>
          <a:solidFill>
            <a:srgbClr val="2D244E"/>
          </a:solidFill>
          <a:ln/>
        </p:spPr>
      </p:sp>
      <p:sp>
        <p:nvSpPr>
          <p:cNvPr id="11" name="Text 8"/>
          <p:cNvSpPr/>
          <p:nvPr/>
        </p:nvSpPr>
        <p:spPr>
          <a:xfrm>
            <a:off x="2643188" y="1978819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Midnight Navy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643188" y="2094905"/>
            <a:ext cx="15001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#2D244E (깊은 숙면)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571500" y="2494955"/>
            <a:ext cx="1785938" cy="85725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4" name="Text 11"/>
          <p:cNvSpPr/>
          <p:nvPr/>
        </p:nvSpPr>
        <p:spPr>
          <a:xfrm>
            <a:off x="714375" y="2978944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Warm Gold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714375" y="3095030"/>
            <a:ext cx="15001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2D244E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#FFD700 (따뜻한 차/빛)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2500313" y="2494955"/>
            <a:ext cx="1785938" cy="85725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17" name="Text 14"/>
          <p:cNvSpPr/>
          <p:nvPr/>
        </p:nvSpPr>
        <p:spPr>
          <a:xfrm>
            <a:off x="2643188" y="2978944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Mellow Green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2643188" y="3095030"/>
            <a:ext cx="15001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2D244E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#A8D5BA (허브의 생기)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857750" y="1494830"/>
            <a:ext cx="37147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타이포그래피 가이드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0" y="1941314"/>
            <a:ext cx="35433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독립서체 윤봉길 GS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029200" y="2282428"/>
            <a:ext cx="3543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제목용: 강렬한 존재감과 진정성 전달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0" y="2525316"/>
            <a:ext cx="35433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50" dirty="0">
                <a:solidFill>
                  <a:srgbClr val="2D244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꿀잠프로젝트</a:t>
            </a:r>
            <a:endParaRPr lang="en-US" sz="2150" dirty="0"/>
          </a:p>
        </p:txBody>
      </p:sp>
      <p:sp>
        <p:nvSpPr>
          <p:cNvPr id="23" name="Text 20"/>
          <p:cNvSpPr/>
          <p:nvPr/>
        </p:nvSpPr>
        <p:spPr>
          <a:xfrm>
            <a:off x="5029200" y="3096816"/>
            <a:ext cx="35433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Pretendard (프리텐다드)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029200" y="3437930"/>
            <a:ext cx="3543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및 기획서용: 명확한 정보 전달과 가독성 확보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57750" y="3823692"/>
            <a:ext cx="37147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프로젝트의 핵심 아이덴티티인 </a:t>
            </a:r>
            <a:r>
              <a:rPr lang="en-US" sz="800" b="1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'꿀잠프로젝트'</a:t>
            </a:r>
            <a:r>
              <a:rPr lang="en-US" sz="8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제목에는 </a:t>
            </a:r>
            <a:r>
              <a:rPr lang="en-US" sz="800" b="1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독립서체 윤봉길 GS</a:t>
            </a:r>
            <a:r>
              <a:rPr lang="en-US" sz="8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사용하여 묵직한 신뢰감을 주었으며, 그 외 모든 본문과 기획서 내</a:t>
            </a:r>
            <a:r>
              <a:rPr lang="en-US" sz="8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용에는 </a:t>
            </a:r>
            <a:r>
              <a:rPr lang="en-US" sz="800" b="1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Pretendard</a:t>
            </a:r>
            <a:r>
              <a:rPr lang="en-US" sz="8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적용하여 최상의 가독성을 유지했습니다.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1519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37642"/>
            <a:ext cx="8001000" cy="14288"/>
          </a:xfrm>
          <a:prstGeom prst="rect">
            <a:avLst/>
          </a:prstGeom>
          <a:solidFill>
            <a:srgbClr val="E0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PAGE STRUCTURE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646509"/>
            <a:ext cx="80010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1" kern="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구조: 감성적 몰입을 위한 설계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71500" y="1423392"/>
            <a:ext cx="1732359" cy="11680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423392"/>
            <a:ext cx="35719" cy="1168003"/>
          </a:xfrm>
          <a:prstGeom prst="rect">
            <a:avLst/>
          </a:prstGeom>
          <a:solidFill>
            <a:srgbClr val="6B5A8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680567"/>
            <a:ext cx="128588" cy="114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1566267"/>
            <a:ext cx="124658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HERO: 따뜻한 첫인상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14375" y="1966317"/>
            <a:ext cx="1446609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바쁜 일상을 위로하는 메인 카피와 오설록 허브티의 포근한 비주얼로 캠페인 컨셉 전달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714375" y="2591395"/>
            <a:ext cx="14288" cy="71438"/>
          </a:xfrm>
          <a:prstGeom prst="rect">
            <a:avLst/>
          </a:prstGeom>
          <a:solidFill>
            <a:srgbClr val="E0D7FF"/>
          </a:solidFill>
          <a:ln/>
        </p:spPr>
      </p:sp>
      <p:sp>
        <p:nvSpPr>
          <p:cNvPr id="13" name="Shape 9"/>
          <p:cNvSpPr/>
          <p:nvPr/>
        </p:nvSpPr>
        <p:spPr>
          <a:xfrm>
            <a:off x="2411016" y="1423392"/>
            <a:ext cx="1732359" cy="11680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2411016" y="1423392"/>
            <a:ext cx="35719" cy="1168003"/>
          </a:xfrm>
          <a:prstGeom prst="rect">
            <a:avLst/>
          </a:prstGeom>
          <a:solidFill>
            <a:srgbClr val="6B5A8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891" y="1680567"/>
            <a:ext cx="142875" cy="114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68203" y="1566267"/>
            <a:ext cx="123229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TOGETHER: 소통의 즐거움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2553891" y="1966317"/>
            <a:ext cx="1446609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소중한 사람들과 수다를 떨며 스트레스를 발산하는 생동감 있는 이미지와 스토리텔링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2553891" y="2591395"/>
            <a:ext cx="14288" cy="71438"/>
          </a:xfrm>
          <a:prstGeom prst="rect">
            <a:avLst/>
          </a:prstGeom>
          <a:solidFill>
            <a:srgbClr val="E0D7FF"/>
          </a:solidFill>
          <a:ln/>
        </p:spPr>
      </p:sp>
      <p:sp>
        <p:nvSpPr>
          <p:cNvPr id="19" name="Shape 14"/>
          <p:cNvSpPr/>
          <p:nvPr/>
        </p:nvSpPr>
        <p:spPr>
          <a:xfrm>
            <a:off x="571500" y="2698552"/>
            <a:ext cx="1732359" cy="11680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571500" y="2698552"/>
            <a:ext cx="35719" cy="1168003"/>
          </a:xfrm>
          <a:prstGeom prst="rect">
            <a:avLst/>
          </a:prstGeom>
          <a:solidFill>
            <a:srgbClr val="6B5A8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955727"/>
            <a:ext cx="114300" cy="1143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0113" y="2841427"/>
            <a:ext cx="126087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ME-TIME: 온전한 휴식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714375" y="3241477"/>
            <a:ext cx="1446609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혼자만의 차 시간을 통해 긴장을 완화하고 숙면을 준비하는 정적이고 차분한 무드 조성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714375" y="3866555"/>
            <a:ext cx="14288" cy="71438"/>
          </a:xfrm>
          <a:prstGeom prst="rect">
            <a:avLst/>
          </a:prstGeom>
          <a:solidFill>
            <a:srgbClr val="E0D7FF"/>
          </a:solidFill>
          <a:ln/>
        </p:spPr>
      </p:sp>
      <p:sp>
        <p:nvSpPr>
          <p:cNvPr id="25" name="Shape 19"/>
          <p:cNvSpPr/>
          <p:nvPr/>
        </p:nvSpPr>
        <p:spPr>
          <a:xfrm>
            <a:off x="2411016" y="2698552"/>
            <a:ext cx="1732359" cy="11680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2411016" y="2698552"/>
            <a:ext cx="35719" cy="1168003"/>
          </a:xfrm>
          <a:prstGeom prst="rect">
            <a:avLst/>
          </a:prstGeom>
          <a:solidFill>
            <a:srgbClr val="6B5A8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3891" y="2955727"/>
            <a:ext cx="128588" cy="1143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753916" y="2841427"/>
            <a:ext cx="124658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GUIDE: 참여의 마침표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2553891" y="3241477"/>
            <a:ext cx="1446609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직관적인 이벤트 가이드와 함께 꿀잠으로 이어지는 마지막 단계인 '응모하기' 버튼 배치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4429125" y="1423392"/>
            <a:ext cx="4143375" cy="1975247"/>
          </a:xfrm>
          <a:prstGeom prst="rect">
            <a:avLst/>
          </a:prstGeom>
          <a:solidFill>
            <a:srgbClr val="FFFFFF"/>
          </a:solidFill>
          <a:ln w="9144">
            <a:solidFill>
              <a:srgbClr val="E0D7F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572000" y="1566267"/>
            <a:ext cx="3857625" cy="714375"/>
          </a:xfrm>
          <a:prstGeom prst="rect">
            <a:avLst/>
          </a:prstGeom>
          <a:solidFill>
            <a:srgbClr val="F3F0FF"/>
          </a:solidFill>
          <a:ln w="9144">
            <a:solidFill>
              <a:srgbClr val="6B5A8E"/>
            </a:solidFill>
            <a:prstDash val="dash"/>
          </a:ln>
        </p:spPr>
      </p:sp>
      <p:sp>
        <p:nvSpPr>
          <p:cNvPr id="32" name="Text 25"/>
          <p:cNvSpPr/>
          <p:nvPr/>
        </p:nvSpPr>
        <p:spPr>
          <a:xfrm>
            <a:off x="5615936" y="1857375"/>
            <a:ext cx="8700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HERO SECTION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6485967" y="1857375"/>
            <a:ext cx="89972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(Concept Visual)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4572000" y="2387798"/>
            <a:ext cx="1893094" cy="389334"/>
          </a:xfrm>
          <a:prstGeom prst="rect">
            <a:avLst/>
          </a:prstGeom>
          <a:solidFill>
            <a:srgbClr val="F9F7FF"/>
          </a:solidFill>
          <a:ln w="9144">
            <a:solidFill>
              <a:srgbClr val="E0D7FF"/>
            </a:solidFill>
            <a:prstDash val="dash"/>
          </a:ln>
        </p:spPr>
      </p:sp>
      <p:sp>
        <p:nvSpPr>
          <p:cNvPr id="35" name="Text 28"/>
          <p:cNvSpPr/>
          <p:nvPr/>
        </p:nvSpPr>
        <p:spPr>
          <a:xfrm>
            <a:off x="4643438" y="2466380"/>
            <a:ext cx="881304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E84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TOGETHER SECTION</a:t>
            </a:r>
            <a:endParaRPr lang="en-US" sz="750" dirty="0"/>
          </a:p>
        </p:txBody>
      </p:sp>
      <p:sp>
        <p:nvSpPr>
          <p:cNvPr id="36" name="Text 29"/>
          <p:cNvSpPr/>
          <p:nvPr/>
        </p:nvSpPr>
        <p:spPr>
          <a:xfrm>
            <a:off x="5524742" y="2466380"/>
            <a:ext cx="868914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E84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(Connection &amp; Energy)</a:t>
            </a:r>
            <a:endParaRPr lang="en-US" sz="750" dirty="0"/>
          </a:p>
        </p:txBody>
      </p:sp>
      <p:sp>
        <p:nvSpPr>
          <p:cNvPr id="37" name="Shape 30"/>
          <p:cNvSpPr/>
          <p:nvPr/>
        </p:nvSpPr>
        <p:spPr>
          <a:xfrm>
            <a:off x="6536531" y="2387798"/>
            <a:ext cx="1893094" cy="389334"/>
          </a:xfrm>
          <a:prstGeom prst="rect">
            <a:avLst/>
          </a:prstGeom>
          <a:solidFill>
            <a:srgbClr val="F9F7FF"/>
          </a:solidFill>
          <a:ln w="9144">
            <a:solidFill>
              <a:srgbClr val="E0D7FF"/>
            </a:solidFill>
            <a:prstDash val="dash"/>
          </a:ln>
        </p:spPr>
      </p:sp>
      <p:sp>
        <p:nvSpPr>
          <p:cNvPr id="38" name="Text 31"/>
          <p:cNvSpPr/>
          <p:nvPr/>
        </p:nvSpPr>
        <p:spPr>
          <a:xfrm>
            <a:off x="6607969" y="2459236"/>
            <a:ext cx="85108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E84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ME-TIME SECTION</a:t>
            </a:r>
            <a:endParaRPr lang="en-US" sz="750" dirty="0"/>
          </a:p>
        </p:txBody>
      </p:sp>
      <p:sp>
        <p:nvSpPr>
          <p:cNvPr id="39" name="Text 32"/>
          <p:cNvSpPr/>
          <p:nvPr/>
        </p:nvSpPr>
        <p:spPr>
          <a:xfrm>
            <a:off x="7459052" y="2459236"/>
            <a:ext cx="89913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E84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(Relaxation &amp; Peace)</a:t>
            </a:r>
            <a:endParaRPr lang="en-US" sz="750" dirty="0"/>
          </a:p>
        </p:txBody>
      </p:sp>
      <p:sp>
        <p:nvSpPr>
          <p:cNvPr id="40" name="Shape 33"/>
          <p:cNvSpPr/>
          <p:nvPr/>
        </p:nvSpPr>
        <p:spPr>
          <a:xfrm>
            <a:off x="4572000" y="2870002"/>
            <a:ext cx="3857625" cy="357188"/>
          </a:xfrm>
          <a:prstGeom prst="rect">
            <a:avLst/>
          </a:prstGeom>
          <a:solidFill>
            <a:srgbClr val="2D244E"/>
          </a:solidFill>
          <a:ln/>
        </p:spPr>
      </p:sp>
      <p:sp>
        <p:nvSpPr>
          <p:cNvPr id="41" name="Text 34"/>
          <p:cNvSpPr/>
          <p:nvPr/>
        </p:nvSpPr>
        <p:spPr>
          <a:xfrm>
            <a:off x="4572000" y="2870002"/>
            <a:ext cx="385762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CTA SECTION (Join Now)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1519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37642"/>
            <a:ext cx="8001000" cy="14288"/>
          </a:xfrm>
          <a:prstGeom prst="rect">
            <a:avLst/>
          </a:prstGeom>
          <a:solidFill>
            <a:srgbClr val="E0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PARTICIPATION FLOW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646509"/>
            <a:ext cx="80010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1" kern="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 플로우: 소중한 순간의 기록과 공유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71500" y="1709142"/>
            <a:ext cx="1893094" cy="1780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709142"/>
            <a:ext cx="1893094" cy="28575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1923455"/>
            <a:ext cx="1607344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01</a:t>
            </a:r>
            <a:endParaRPr lang="en-US" sz="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747" y="2146697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4375" y="2518172"/>
            <a:ext cx="16073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 한 잔의 시간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14375" y="2796778"/>
            <a:ext cx="1607344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혹은 혼자</a:t>
            </a: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오설록 허브티와 함께</a:t>
            </a: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긴장을 완화하는 시간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2607469" y="1709142"/>
            <a:ext cx="1893094" cy="1780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2607469" y="1709142"/>
            <a:ext cx="1893094" cy="28575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" name="Text 11"/>
          <p:cNvSpPr/>
          <p:nvPr/>
        </p:nvSpPr>
        <p:spPr>
          <a:xfrm>
            <a:off x="2750344" y="1923455"/>
            <a:ext cx="1607344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02</a:t>
            </a:r>
            <a:endParaRPr lang="en-US" sz="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716" y="2146697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50344" y="2518172"/>
            <a:ext cx="16073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순간의 기록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2750344" y="2796778"/>
            <a:ext cx="1607344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대화의 즐거움이나</a:t>
            </a: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휴식의 평온함을 담은</a:t>
            </a: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사진/영상 촬영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4643438" y="1709142"/>
            <a:ext cx="1893094" cy="1780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4643438" y="1709142"/>
            <a:ext cx="1893094" cy="28575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1" name="Text 16"/>
          <p:cNvSpPr/>
          <p:nvPr/>
        </p:nvSpPr>
        <p:spPr>
          <a:xfrm>
            <a:off x="4786313" y="1923455"/>
            <a:ext cx="1607344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03</a:t>
            </a:r>
            <a:endParaRPr lang="en-US" sz="7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972" y="2146697"/>
            <a:ext cx="200025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86313" y="2518172"/>
            <a:ext cx="16073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업로드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786313" y="2796778"/>
            <a:ext cx="1607344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해시태그와 함께</a:t>
            </a: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인스타그램에</a:t>
            </a: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자유롭게 공유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6679406" y="1709142"/>
            <a:ext cx="1893094" cy="1780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6679406" y="1709142"/>
            <a:ext cx="1893094" cy="28575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7" name="Text 21"/>
          <p:cNvSpPr/>
          <p:nvPr/>
        </p:nvSpPr>
        <p:spPr>
          <a:xfrm>
            <a:off x="6822281" y="1923455"/>
            <a:ext cx="1607344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04</a:t>
            </a:r>
            <a:endParaRPr lang="en-US" sz="7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7366" y="2146697"/>
            <a:ext cx="257175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822281" y="2518172"/>
            <a:ext cx="16073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응모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822281" y="2796778"/>
            <a:ext cx="1607344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하단의</a:t>
            </a: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'응모하기' 버튼을 눌러</a:t>
            </a: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7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 완료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1519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37642"/>
            <a:ext cx="8001000" cy="14288"/>
          </a:xfrm>
          <a:prstGeom prst="rect">
            <a:avLst/>
          </a:prstGeom>
          <a:solidFill>
            <a:srgbClr val="E0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FINAL DIRECTION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646509"/>
            <a:ext cx="80010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1" kern="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시안 방향: 따뜻함이 머무는 페이지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71500" y="1494830"/>
            <a:ext cx="3786188" cy="528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494830"/>
            <a:ext cx="42863" cy="528638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673423"/>
            <a:ext cx="85725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8694" y="1673423"/>
            <a:ext cx="16859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몰입도 높은 세로형 랜딩 구조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71500" y="2166342"/>
            <a:ext cx="3786188" cy="528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571500" y="2166342"/>
            <a:ext cx="42863" cy="528638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4" y="2344936"/>
            <a:ext cx="192881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85850" y="2344936"/>
            <a:ext cx="18145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감성적인 허브/차 일러스트 활용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71500" y="2837855"/>
            <a:ext cx="3786188" cy="528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571500" y="2837855"/>
            <a:ext cx="42863" cy="528638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3016448"/>
            <a:ext cx="150019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42988" y="3016448"/>
            <a:ext cx="17715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직관적인 인터랙티브 CTA 배치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71500" y="3509367"/>
            <a:ext cx="3786188" cy="528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571500" y="3509367"/>
            <a:ext cx="42863" cy="52863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1" name="Text 15"/>
          <p:cNvSpPr/>
          <p:nvPr/>
        </p:nvSpPr>
        <p:spPr>
          <a:xfrm>
            <a:off x="892969" y="3687961"/>
            <a:ext cx="17788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최적화 반응형 레이아웃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786313" y="1494830"/>
            <a:ext cx="3786188" cy="2543175"/>
          </a:xfrm>
          <a:prstGeom prst="rect">
            <a:avLst/>
          </a:prstGeom>
          <a:solidFill>
            <a:srgbClr val="2D244E"/>
          </a:solidFill>
          <a:ln/>
        </p:spPr>
      </p:sp>
      <p:sp>
        <p:nvSpPr>
          <p:cNvPr id="23" name="Text 17"/>
          <p:cNvSpPr/>
          <p:nvPr/>
        </p:nvSpPr>
        <p:spPr>
          <a:xfrm>
            <a:off x="5764392" y="2305478"/>
            <a:ext cx="1830028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KEYWORD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925685" y="2678739"/>
            <a:ext cx="150744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"바쁜 일상의 소음을 잠재우는</a:t>
            </a: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차분한 연보라빛 새벽과</a:t>
            </a: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따뜻한 찻잔의 온기"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1519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37642"/>
            <a:ext cx="8001000" cy="14288"/>
          </a:xfrm>
          <a:prstGeom prst="rect">
            <a:avLst/>
          </a:prstGeom>
          <a:solidFill>
            <a:srgbClr val="E0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EXPECTED EFFECT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646509"/>
            <a:ext cx="80010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1" kern="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효과: 일상의 스트레스를 넘어 숙면으로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71500" y="1494830"/>
            <a:ext cx="2524116" cy="19826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494830"/>
            <a:ext cx="2524116" cy="42863"/>
          </a:xfrm>
          <a:prstGeom prst="rect">
            <a:avLst/>
          </a:prstGeom>
          <a:solidFill>
            <a:srgbClr val="6B5A8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810" y="1780580"/>
            <a:ext cx="321469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5813" y="2244923"/>
            <a:ext cx="2095491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스트레스 해소 루틴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85813" y="2600325"/>
            <a:ext cx="209549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대화와 차 한 잔을 통해 하루의 스트레스를 건강하게 해소하는 새로운 라이프스타일 루틴을 형성합니다.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309928" y="1494830"/>
            <a:ext cx="2524116" cy="19826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3309928" y="1494830"/>
            <a:ext cx="2524116" cy="42863"/>
          </a:xfrm>
          <a:prstGeom prst="rect">
            <a:avLst/>
          </a:prstGeom>
          <a:solidFill>
            <a:srgbClr val="6B5A8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238" y="1780580"/>
            <a:ext cx="321469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24241" y="2244923"/>
            <a:ext cx="2095491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친밀도 강화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524241" y="2600325"/>
            <a:ext cx="209549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오설록을 단순한 제품이 아닌, 고객의 소중한 소통과 휴식의 순간에 함께하는 '힐링 파트너'로 인식시킵니다.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6048356" y="1494830"/>
            <a:ext cx="2524144" cy="19826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6048356" y="1494830"/>
            <a:ext cx="2524144" cy="42863"/>
          </a:xfrm>
          <a:prstGeom prst="rect">
            <a:avLst/>
          </a:prstGeom>
          <a:solidFill>
            <a:srgbClr val="6B5A8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553" y="1780580"/>
            <a:ext cx="285750" cy="2857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62669" y="2244923"/>
            <a:ext cx="2095519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자연스러운 숙면 유도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262669" y="2600325"/>
            <a:ext cx="209551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충분한 긴장 완화 과정을 통해 고객들이 진정한 '꿀잠'을 경험하게 함으로써 제품에 대한 만족도를 극대화합니다.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1519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37642"/>
            <a:ext cx="8001000" cy="14288"/>
          </a:xfrm>
          <a:prstGeom prst="rect">
            <a:avLst/>
          </a:prstGeom>
          <a:solidFill>
            <a:srgbClr val="E0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6B5A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FINAL OUTPUT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646509"/>
            <a:ext cx="80010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1" kern="0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디자인 결과물: 소통과 휴식의 공존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71500" y="1566267"/>
            <a:ext cx="2857500" cy="232172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테마 구현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34183"/>
            <a:ext cx="142875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1531" y="2012752"/>
            <a:ext cx="26074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나누는 에너지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821531" y="2253853"/>
            <a:ext cx="259759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따뜻한 수다와 소통의 즐거움을 상징하는 생동감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21531" y="2436019"/>
            <a:ext cx="11942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있는 비주얼 요소 배치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59273"/>
            <a:ext cx="142875" cy="1428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1531" y="2737842"/>
            <a:ext cx="26074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누리는 평온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821531" y="2978944"/>
            <a:ext cx="25098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긴장 완화와 숙면 준비를 위한 차분하고 정적인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821531" y="3161109"/>
            <a:ext cx="79616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랜딩 섹션 구성</a:t>
            </a:r>
            <a:endParaRPr lang="en-US" sz="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84364"/>
            <a:ext cx="142875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1531" y="3462933"/>
            <a:ext cx="26074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감성적인 연결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821531" y="3704034"/>
            <a:ext cx="25773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바쁜 일상과 평온한 밤을 잇는 따뜻한 차 한 잔의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821531" y="3886200"/>
            <a:ext cx="12819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44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가치를 시각적으로 전달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714750" y="1423392"/>
            <a:ext cx="4857750" cy="3571875"/>
          </a:xfrm>
          <a:prstGeom prst="rect">
            <a:avLst/>
          </a:prstGeom>
          <a:solidFill>
            <a:srgbClr val="FFFFFF"/>
          </a:solidFill>
          <a:ln w="9144">
            <a:solidFill>
              <a:srgbClr val="E0D7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566267"/>
            <a:ext cx="2857500" cy="3286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2026-05-14T08:26:52Z</dcterms:created>
  <dcterms:modified xsi:type="dcterms:W3CDTF">2026-05-14T08:26:52Z</dcterms:modified>
</cp:coreProperties>
</file>